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7" r:id="rId48"/>
    <p:sldId id="298" r:id="rId49"/>
    <p:sldId id="299" r:id="rId50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01" r:id="rId51"/>
    <p:sldId id="302" r:id="rId52"/>
    <p:sldId id="284" r:id="rId30"/>
    <p:sldId id="304" r:id="rId54"/>
    <p:sldId id="285" r:id="rId31"/>
    <p:sldId id="286" r:id="rId32"/>
    <p:sldId id="287" r:id="rId33"/>
    <p:sldId id="288" r:id="rId34"/>
    <p:sldId id="289" r:id="rId35"/>
    <p:sldId id="305" r:id="rId55"/>
    <p:sldId id="303" r:id="rId53"/>
    <p:sldId id="290" r:id="rId36"/>
    <p:sldId id="291" r:id="rId37"/>
    <p:sldId id="292" r:id="rId38"/>
    <p:sldId id="293" r:id="rId39"/>
    <p:sldId id="294" r:id="rId40"/>
    <p:sldId id="295" r:id="rId41"/>
    <p:sldId id="306" r:id="rId56"/>
    <p:sldId id="307" r:id="rId57"/>
    <p:sldId id="308" r:id="rId58"/>
    <p:sldId id="309" r:id="rId59"/>
    <p:sldId id="310" r:id="rId60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4.png"/><Relationship Id="rId5" Type="http://schemas.openxmlformats.org/officeDocument/2006/relationships/image" Target="../media/image-13-2.png"/><Relationship Id="rId6" Type="http://schemas.openxmlformats.org/officeDocument/2006/relationships/image" Target="../media/image-13-2.png"/><Relationship Id="rId7" Type="http://schemas.openxmlformats.org/officeDocument/2006/relationships/image" Target="../media/image-13-4.png"/><Relationship Id="rId8" Type="http://schemas.openxmlformats.org/officeDocument/2006/relationships/image" Target="../media/image-13-2.png"/><Relationship Id="rId9" Type="http://schemas.openxmlformats.org/officeDocument/2006/relationships/image" Target="../media/image-13-2.png"/><Relationship Id="rId10" Type="http://schemas.openxmlformats.org/officeDocument/2006/relationships/image" Target="../media/image-13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2.png"/><Relationship Id="rId4" Type="http://schemas.openxmlformats.org/officeDocument/2006/relationships/image" Target="../media/image-32-2.png"/><Relationship Id="rId5" Type="http://schemas.openxmlformats.org/officeDocument/2006/relationships/image" Target="../media/image-32-2.png"/><Relationship Id="rId6" Type="http://schemas.openxmlformats.org/officeDocument/2006/relationships/image" Target="../media/image-32-2.png"/><Relationship Id="rId7" Type="http://schemas.openxmlformats.org/officeDocument/2006/relationships/image" Target="../media/image-3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1.png"/><Relationship Id="rId3" Type="http://schemas.openxmlformats.org/officeDocument/2006/relationships/image" Target="../media/image-37-1.png"/><Relationship Id="rId4" Type="http://schemas.openxmlformats.org/officeDocument/2006/relationships/image" Target="../media/image-37-1.png"/><Relationship Id="rId5" Type="http://schemas.openxmlformats.org/officeDocument/2006/relationships/image" Target="../media/image-37-1.png"/><Relationship Id="rId6" Type="http://schemas.openxmlformats.org/officeDocument/2006/relationships/image" Target="../media/image-3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5532120"/>
            <a:ext cx="2926080" cy="292608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480560"/>
            <a:ext cx="1554480" cy="155448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lap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892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AFFORDMED TECHNICAL INTERVIEW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Preparation Workshop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Assessment to Offer — JavaScript, React, Express, SQL &amp; DSA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0" cy="0"/>
          </a:xfrm>
          <a:prstGeom prst="line">
            <a:avLst/>
          </a:prstGeom>
          <a:noFill/>
          <a:ln/>
        </p:spPr>
      </p:sp>
      <p:sp>
        <p:nvSpPr>
          <p:cNvPr id="10" name="Shape 7"/>
          <p:cNvSpPr/>
          <p:nvPr/>
        </p:nvSpPr>
        <p:spPr>
          <a:xfrm>
            <a:off x="822960" y="4251960"/>
            <a:ext cx="2276856" cy="384048"/>
          </a:xfrm>
          <a:prstGeom prst="roundRect">
            <a:avLst>
              <a:gd name="adj" fmla="val 50000"/>
            </a:avLst>
          </a:prstGeom>
          <a:solidFill>
            <a:srgbClr val="5E3B30"/>
          </a:solidFill>
          <a:ln w="12700">
            <a:solidFill>
              <a:srgbClr val="C96A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242816"/>
            <a:ext cx="2276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Yourself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00984" y="4251960"/>
            <a:ext cx="1929384" cy="384048"/>
          </a:xfrm>
          <a:prstGeom prst="roundRect">
            <a:avLst>
              <a:gd name="adj" fmla="val 50000"/>
            </a:avLst>
          </a:prstGeom>
          <a:solidFill>
            <a:srgbClr val="5E3B30"/>
          </a:solidFill>
          <a:ln w="12700">
            <a:solidFill>
              <a:srgbClr val="C96A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00984" y="4242816"/>
            <a:ext cx="1929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Discussion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31536" y="4251960"/>
            <a:ext cx="1929384" cy="384048"/>
          </a:xfrm>
          <a:prstGeom prst="roundRect">
            <a:avLst>
              <a:gd name="adj" fmla="val 50000"/>
            </a:avLst>
          </a:prstGeom>
          <a:solidFill>
            <a:srgbClr val="5E3B30"/>
          </a:solidFill>
          <a:ln w="12700">
            <a:solidFill>
              <a:srgbClr val="C96A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1536" y="4242816"/>
            <a:ext cx="1929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React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62088" y="4251960"/>
            <a:ext cx="2016252" cy="384048"/>
          </a:xfrm>
          <a:prstGeom prst="roundRect">
            <a:avLst>
              <a:gd name="adj" fmla="val 50000"/>
            </a:avLst>
          </a:prstGeom>
          <a:solidFill>
            <a:srgbClr val="5E3B30"/>
          </a:solidFill>
          <a:ln w="12700">
            <a:solidFill>
              <a:srgbClr val="C96A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2088" y="4242816"/>
            <a:ext cx="20162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&amp; REST APIs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779508" y="4251960"/>
            <a:ext cx="626364" cy="384048"/>
          </a:xfrm>
          <a:prstGeom prst="roundRect">
            <a:avLst>
              <a:gd name="adj" fmla="val 50000"/>
            </a:avLst>
          </a:prstGeom>
          <a:solidFill>
            <a:srgbClr val="5E3B30"/>
          </a:solidFill>
          <a:ln w="12700">
            <a:solidFill>
              <a:srgbClr val="C96A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79508" y="4242816"/>
            <a:ext cx="6263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22960" y="4727448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5E3B30"/>
          </a:solidFill>
          <a:ln w="12700">
            <a:solidFill>
              <a:srgbClr val="C96A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718304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Patterns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Workshop  |  3 Hours  |  For Shortlisted Candidates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636776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8" name="Image 1" descr="/home/claude/affordmed/icons/user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1687068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55448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298448" y="176479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Interview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real Affordmed rounds, mindset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325112" y="1417320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9704" y="1636776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14" name="Image 2" descr="/home/claude/affordmed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6" y="1687068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4920" y="155448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074920" y="176479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Yourself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7492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templates, sample answers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101584" y="1417320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66176" y="1636776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20" name="Image 3" descr="/home/claude/affordmed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468" y="1687068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51392" y="155448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8851392" y="176479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Discussion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851392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interviewers read your resume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2642616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2862072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26" name="Image 4" descr="/home/claude/affordmed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2912364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27797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298448" y="299008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Deep Dive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298448" y="328269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Closures, async, ES6+, array methods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325112" y="2642616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489704" y="2862072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32" name="Image 5" descr="/home/claude/affordmed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996" y="2912364"/>
            <a:ext cx="356616" cy="35661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074920" y="27797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074920" y="299008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074920" y="328269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REST APIs, middleware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101584" y="2642616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66176" y="2862072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38" name="Image 6" descr="/home/claude/affordmed/icons/re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468" y="2912364"/>
            <a:ext cx="356616" cy="35661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851392" y="27797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8851392" y="299008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8851392" y="328269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hooks, API integration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48640" y="3867912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713232" y="4087368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44" name="Image 7" descr="/home/claude/affordmed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" y="4137660"/>
            <a:ext cx="356616" cy="35661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298448" y="400507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1298448" y="421538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Mastery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1298448" y="45079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diagrams, integrity, subqueries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325112" y="3867912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4489704" y="4087368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0" name="Image 8" descr="/home/claude/affordmed/icons/site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996" y="4137660"/>
            <a:ext cx="356616" cy="35661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074920" y="400507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950" dirty="0"/>
          </a:p>
        </p:txBody>
      </p:sp>
      <p:sp>
        <p:nvSpPr>
          <p:cNvPr id="52" name="Text 41"/>
          <p:cNvSpPr/>
          <p:nvPr/>
        </p:nvSpPr>
        <p:spPr>
          <a:xfrm>
            <a:off x="5074920" y="421538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Pattern Thinking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5074920" y="45079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structures, solving patterns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8101584" y="3867912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8266176" y="4087368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6" name="Image 9" descr="/home/claude/affordmed/icons/co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6468" y="4137660"/>
            <a:ext cx="356616" cy="356616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8851392" y="400507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950" dirty="0"/>
          </a:p>
        </p:txBody>
      </p:sp>
      <p:sp>
        <p:nvSpPr>
          <p:cNvPr id="58" name="Text 46"/>
          <p:cNvSpPr/>
          <p:nvPr/>
        </p:nvSpPr>
        <p:spPr>
          <a:xfrm>
            <a:off x="8851392" y="421538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300" dirty="0"/>
          </a:p>
        </p:txBody>
      </p:sp>
      <p:sp>
        <p:nvSpPr>
          <p:cNvPr id="59" name="Text 47"/>
          <p:cNvSpPr/>
          <p:nvPr/>
        </p:nvSpPr>
        <p:spPr>
          <a:xfrm>
            <a:off x="8851392" y="45079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SOLID, OOP, clean code</a:t>
            </a:r>
            <a:endParaRPr lang="en-US" sz="1000" dirty="0"/>
          </a:p>
        </p:txBody>
      </p:sp>
      <p:sp>
        <p:nvSpPr>
          <p:cNvPr id="60" name="Shape 48"/>
          <p:cNvSpPr/>
          <p:nvPr/>
        </p:nvSpPr>
        <p:spPr>
          <a:xfrm>
            <a:off x="548640" y="5093208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61" name="Shape 49"/>
          <p:cNvSpPr/>
          <p:nvPr/>
        </p:nvSpPr>
        <p:spPr>
          <a:xfrm>
            <a:off x="713232" y="5312664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62" name="Image 10" descr="/home/claude/affordmed/icons/proje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" y="5362956"/>
            <a:ext cx="356616" cy="356616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1298448" y="52303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50" dirty="0"/>
          </a:p>
        </p:txBody>
      </p:sp>
      <p:sp>
        <p:nvSpPr>
          <p:cNvPr id="64" name="Text 51"/>
          <p:cNvSpPr/>
          <p:nvPr/>
        </p:nvSpPr>
        <p:spPr>
          <a:xfrm>
            <a:off x="1298448" y="544068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Discussion</a:t>
            </a:r>
            <a:endParaRPr lang="en-US" sz="1300" dirty="0"/>
          </a:p>
        </p:txBody>
      </p:sp>
      <p:sp>
        <p:nvSpPr>
          <p:cNvPr id="65" name="Text 52"/>
          <p:cNvSpPr/>
          <p:nvPr/>
        </p:nvSpPr>
        <p:spPr>
          <a:xfrm>
            <a:off x="1298448" y="5733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5-block explanation framework</a:t>
            </a:r>
            <a:endParaRPr lang="en-US" sz="1000" dirty="0"/>
          </a:p>
        </p:txBody>
      </p:sp>
      <p:sp>
        <p:nvSpPr>
          <p:cNvPr id="66" name="Shape 53"/>
          <p:cNvSpPr/>
          <p:nvPr/>
        </p:nvSpPr>
        <p:spPr>
          <a:xfrm>
            <a:off x="4325112" y="5093208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67" name="Shape 54"/>
          <p:cNvSpPr/>
          <p:nvPr/>
        </p:nvSpPr>
        <p:spPr>
          <a:xfrm>
            <a:off x="4489704" y="5312664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68" name="Image 11" descr="/home/claude/affordmed/icons/clipbo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9996" y="5362956"/>
            <a:ext cx="356616" cy="356616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5074920" y="52303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50" dirty="0"/>
          </a:p>
        </p:txBody>
      </p:sp>
      <p:sp>
        <p:nvSpPr>
          <p:cNvPr id="70" name="Text 56"/>
          <p:cNvSpPr/>
          <p:nvPr/>
        </p:nvSpPr>
        <p:spPr>
          <a:xfrm>
            <a:off x="5074920" y="544068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300" dirty="0"/>
          </a:p>
        </p:txBody>
      </p:sp>
      <p:sp>
        <p:nvSpPr>
          <p:cNvPr id="71" name="Text 57"/>
          <p:cNvSpPr/>
          <p:nvPr/>
        </p:nvSpPr>
        <p:spPr>
          <a:xfrm>
            <a:off x="5074920" y="5733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Q&amp;A, rubric, feedback</a:t>
            </a:r>
            <a:endParaRPr lang="en-US" sz="1000" dirty="0"/>
          </a:p>
        </p:txBody>
      </p:sp>
      <p:sp>
        <p:nvSpPr>
          <p:cNvPr id="80" name="Shape 48b"/>
          <p:cNvSpPr/>
          <p:nvPr/>
        </p:nvSpPr>
        <p:spPr>
          <a:xfrm>
            <a:off x="8101584" y="5093208"/>
            <a:ext cx="3611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1" name="Shape 49b"/>
          <p:cNvSpPr/>
          <p:nvPr/>
        </p:nvSpPr>
        <p:spPr>
          <a:xfrm>
            <a:off x="8266176" y="5312664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82" name="Image 10b" descr="/home/claude/affordmed/icons/clipbo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6468" y="5362956"/>
            <a:ext cx="356616" cy="356616"/>
          </a:xfrm>
          <a:prstGeom prst="rect">
            <a:avLst/>
          </a:prstGeom>
        </p:spPr>
      </p:pic>
      <p:sp>
        <p:nvSpPr>
          <p:cNvPr id="83" name="Text 50b"/>
          <p:cNvSpPr/>
          <p:nvPr/>
        </p:nvSpPr>
        <p:spPr>
          <a:xfrm>
            <a:off x="8851392" y="52303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50" dirty="0"/>
          </a:p>
        </p:txBody>
      </p:sp>
      <p:sp>
        <p:nvSpPr>
          <p:cNvPr id="84" name="Text 51b"/>
          <p:cNvSpPr/>
          <p:nvPr/>
        </p:nvSpPr>
        <p:spPr>
          <a:xfrm>
            <a:off x="8851392" y="544068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Assessment, Decoded</a:t>
            </a:r>
            <a:endParaRPr lang="en-US" sz="1300" dirty="0"/>
          </a:p>
        </p:txBody>
      </p:sp>
      <p:sp>
        <p:nvSpPr>
          <p:cNvPr id="85" name="Text 52b"/>
          <p:cNvSpPr/>
          <p:nvPr/>
        </p:nvSpPr>
        <p:spPr>
          <a:xfrm>
            <a:off x="8851392" y="5733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they'll grill you on next</a:t>
            </a:r>
            <a:endParaRPr lang="en-US" sz="1000" dirty="0"/>
          </a:p>
        </p:txBody>
      </p:sp>
      <p:sp>
        <p:nvSpPr>
          <p:cNvPr id="72" name="Text 58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Affordmed Interview Prep</a:t>
            </a:r>
            <a:endParaRPr lang="en-US" sz="900" dirty="0"/>
          </a:p>
        </p:txBody>
      </p:sp>
      <p:sp>
        <p:nvSpPr>
          <p:cNvPr id="73" name="Text 5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userti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Affordmed Interview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game before you play 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userti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ORIENTATION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Interview Process &amp; What Gets Evaluated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Flow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764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Resume Walkthrough  </a:t>
            </a:r>
            <a:pPr indent="0" marL="0">
              <a:buNone/>
            </a:pPr>
            <a:r>
              <a:rPr lang="en-US" sz="12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+ verifying what you claim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3591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Tell Me About Yourself  </a:t>
            </a:r>
            <a:pPr indent="0" marL="0">
              <a:buNone/>
            </a:pPr>
            <a:r>
              <a:rPr lang="en-US" sz="12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+ communication check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9535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Technical Round  </a:t>
            </a:r>
            <a:pPr indent="0" marL="0">
              <a:buNone/>
            </a:pPr>
            <a:r>
              <a:rPr lang="en-US" sz="12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/ React / Express / SQL / DSA questions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547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Project Deep-Dive  </a:t>
            </a:r>
            <a:pPr indent="0" marL="0">
              <a:buNone/>
            </a:pPr>
            <a:r>
              <a:rPr lang="en-US" sz="12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role, challenges, trade-offs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41422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HR / Wrap-up  </a:t>
            </a:r>
            <a:pPr indent="0" marL="0">
              <a:buNone/>
            </a:pPr>
            <a:r>
              <a:rPr lang="en-US" sz="12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expectations, offer discussion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0" y="1371600"/>
            <a:ext cx="52578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675120" y="1572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Interviewers Actually Observe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675120" y="201168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thought — can you explain a concept simply?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did YOU build it, or did you copy it?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over breadth — one topic explained well beats ten memorized definitions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to follow-up questions — composure under pressure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— structured answers, not rambling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— curiosity, coachability, honesty about gaps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Understanding the Interview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tim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ORIENTATION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That Cost Offers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572768"/>
            <a:ext cx="457200" cy="45720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8" name="Image 1" descr="/home/claude/affordmed/icons/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1623060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4904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Memorized answers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3440" y="149047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robotic; falls apart on the first follow-up question.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350008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13232" y="2505456"/>
            <a:ext cx="457200" cy="45720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13" name="Image 2" descr="/home/claude/affordmed/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2555748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2423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explain own project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663440" y="24231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red flag — suggests copied or unfamiliar work.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282696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3438144"/>
            <a:ext cx="457200" cy="45720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18" name="Image 3" descr="/home/claude/affordmed/icons/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488436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3558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to code too fast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663440" y="335584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clarifying the problem or explaining the approach first.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215384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3232" y="4370832"/>
            <a:ext cx="457200" cy="45720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23" name="Image 4" descr="/home/claude/affordmed/icons/ti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4421124"/>
            <a:ext cx="356616" cy="3566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42885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fundamentals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663440" y="428853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framework syntax but not the 'why' behind it.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5148072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13232" y="5303520"/>
            <a:ext cx="457200" cy="45720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28" name="Image 5" descr="/home/claude/affordmed/icons/tim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5353812"/>
            <a:ext cx="356616" cy="35661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5880" y="522122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questions for interviewer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663440" y="522122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low genuine interest in the role.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Understanding the Interview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MINDSET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Stay Focused During Prep &amp; the Interview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Interview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in blocks, not marathons — 45–50 min focused study + 10 min break beats a distracted 4-hour session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 your weakest topic first, while your mind is freshest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out loud (mirror, friend, or phone recording) — silent reading feels like knowing, speaking reveals gaps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well the night before — tired recall is unreliable recall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running 'confusion list' instead of context-switching mid-topic to look something up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Interview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quiet, well-lit space; silence your phone and close unrelated tabs before you join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okay to pause for 3–5 seconds before answering — it reads as composure, not weakness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STAR method (Situation, Task, Action, Result) to stay on-track for behavioral questions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blank out, say so calmly and ask to revisit — recovering well matters more than never stumbling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yourself: silently recall why this role matters to you before the first question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Understanding the Interview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comm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Me About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Yourself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60-second first impression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omm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OPENING QUESTION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Question Decides So Much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Interviewers Ask This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tone and first impression for the entire interview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spoken communication and language fluency in real time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whether you can structure information logically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interviewer a direction to pick follow-up questions from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10312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Reciting the resume line-by-line instead of telling a story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over 90 seconds or stopping after 15 seconds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mention of any real project or measurable skill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abruptly with no connection to the role you're interviewing for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Tell Me About Yourself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omm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OPENING QUESTION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6-Block Answer Structure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0352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Goes Here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1. Introduction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Name, degree, college, year of graduation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Warm, confident opening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2. Strongest Project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1 sentence: what it does + your role + stack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Prove hands-on 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3. Skill Layering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“I'm skilled in X, currently strengthening Y”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Shows honesty + growth mindset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4. Internship / Experience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Any real-world or academic exposure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Shows workplace adaptability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5. Why Affordmed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One specific, genuine reason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Shows you researched the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6. Closing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Career goal in one line + confident stop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Leaves a strong final impression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Tell Me About Yourself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exch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OPENING QUESTION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Answer vs. Strong Answer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714"/>
            </a:avLst>
          </a:prstGeom>
          <a:solidFill>
            <a:srgbClr val="FBEDEC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8" name="Image 1" descr="/home/claude/affordmed/icons/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419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286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name is Ravi. I studied B.Tech CSE at ABC College. I know Java, Python, HTML, CSS, C, C++, JavaScript, and I am a hard-working, punctual, team player who wants to grow in your esteemed organization.”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5532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generic, skill-dump, no project, no ownership, no direction.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141732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E9F7F1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14" name="Image 2" descr="/home/claude/affordme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174193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92240" y="228600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8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Ravi, a final-year CSE student who enjoys turning ideas into working products. My strongest project is a MERN-based expense tracker where I built the REST APIs and MongoDB schema — it handled 500+ mock transactions with sub-200ms response times. I'm confident in JavaScript and React, and currently sharpening my SQL and system-design basics. I'm drawn to Affordmed because freshers here get to own real client modules early — which is exactly the kind of hands-on growth I'm looking for.”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Tell Me About Yourself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to your interview success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RESUME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Interviewers Actually Read a Resume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Order (first 5 minutes)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10512"/>
            <a:ext cx="365760" cy="365760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9222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— what did you actually build?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340864"/>
            <a:ext cx="365760" cy="365760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32257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do they match the projects claimed?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85292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/ Certifications — real exposure?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401568"/>
            <a:ext cx="365760" cy="365760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38328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— CGPA, consistency of dates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" y="391363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— anything that stands out?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0" y="1371600"/>
            <a:ext cx="52578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675120" y="1572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They'll Pull From It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675120" y="201168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“Walk me through this project — what exactly did you do?”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does your resume list Java if all projects use Python?”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mention MongoDB — show me a query you wrote.”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CGPA is 8.5 but you say DBMS was tough — why?”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certification did you actually complete vs. enroll in?”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Resume Discussion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exch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RESUME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Bullet vs. Improved Bullet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pic>
        <p:nvPicPr>
          <p:cNvPr id="7" name="Image 1" descr="/home/claude/affordmed/icons/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81912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9" name="Image 2" descr="/home/claude/affordmed/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15087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 food delivery app.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77240" y="2194560"/>
            <a:ext cx="365760" cy="36576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12" name="Image 3" descr="/home/claude/affordme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8600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2075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order-tracking module of a MERN food-delivery app; integrated Razorpay and reduced checkout failures by 30% through input validation.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pic>
        <p:nvPicPr>
          <p:cNvPr id="15" name="Image 4" descr="/home/claude/affordmed/icons/ti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09544"/>
            <a:ext cx="292608" cy="29260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77240" y="3182112"/>
            <a:ext cx="365760" cy="36576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17" name="Image 5" descr="/home/claude/affordmed/icons/tim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273552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25880" y="313639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 project on student management using SQL.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777240" y="3822192"/>
            <a:ext cx="365760" cy="36576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20" name="Image 6" descr="/home/claude/affordmed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913632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325880" y="37033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normalized 5-table Student Management schema (3NF); wrote joins and subqueries that cut duplicate-record errors to zero.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pic>
        <p:nvPicPr>
          <p:cNvPr id="23" name="Image 7" descr="/home/claude/affordmed/icons/tim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837176"/>
            <a:ext cx="292608" cy="29260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77240" y="4809744"/>
            <a:ext cx="365760" cy="365760"/>
          </a:xfrm>
          <a:prstGeom prst="ellipse">
            <a:avLst/>
          </a:prstGeom>
          <a:solidFill>
            <a:srgbClr val="AA4436"/>
          </a:solidFill>
          <a:ln/>
        </p:spPr>
      </p:sp>
      <p:pic>
        <p:nvPicPr>
          <p:cNvPr id="25" name="Image 8" descr="/home/claude/affordmed/icons/tim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901184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325880" y="4764024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with React and Node.js.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777240" y="5449824"/>
            <a:ext cx="365760" cy="36576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28" name="Image 9" descr="/home/claude/affordmed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541264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325880" y="533095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3 reusable React components with hooks and consumed a Node/Express REST API with Axios, including error and loading states.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Resume Discussion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question circles back to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vs let vs const, Scope &amp; Hoisting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46304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Scope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Function-scoped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Block-scoped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Block-scoped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Re-declare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Allowed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Not allowed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Not allowed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Re-assign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Allowed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Allowed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Not allowed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Hoisting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Hoisted, initialized to undefined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Hoisted, in “temporal dead zone”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22"/>
                          </a:solidFill>
                        </a:rPr>
                        <a:t>Hoisted, in “temporal dead zone”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355080" y="1371600"/>
            <a:ext cx="530352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629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Tip + Code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62940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does this print 3, 3, 3?” is a classic closure + var trap.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629400" y="2423160"/>
            <a:ext cx="4754880" cy="1417320"/>
          </a:xfrm>
          <a:prstGeom prst="roundRect">
            <a:avLst>
              <a:gd name="adj" fmla="val 4516"/>
            </a:avLst>
          </a:prstGeom>
          <a:solidFill>
            <a:srgbClr val="2B211A"/>
          </a:solidFill>
          <a:ln/>
        </p:spPr>
      </p:sp>
      <p:sp>
        <p:nvSpPr>
          <p:cNvPr id="11" name="Text 7"/>
          <p:cNvSpPr/>
          <p:nvPr/>
        </p:nvSpPr>
        <p:spPr>
          <a:xfrm>
            <a:off x="6830568" y="2551176"/>
            <a:ext cx="435254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i = 0; i &lt; 3; i++)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setTimeout(() =&gt; console.log(i), 0);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prints 3, 3, 3  (use let to fix)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62940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629400" y="4343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fix the loop above using let?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Temporal Dead Zone?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re-declare a const object's properties?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Closures — The #1 Asked Concept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closure is a function that remembers the variables from its outer scope, even after that outer function has finished executing.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counters / data hiding (module pattern)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 and caching function results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handlers that need to “remember” state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 (useState) are built on closures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2B211A"/>
          </a:solidFill>
          <a:ln/>
        </p:spPr>
      </p:sp>
      <p:sp>
        <p:nvSpPr>
          <p:cNvPr id="12" name="Text 9"/>
          <p:cNvSpPr/>
          <p:nvPr/>
        </p:nvSpPr>
        <p:spPr>
          <a:xfrm>
            <a:off x="6373368" y="1545336"/>
            <a:ext cx="5084064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makeCounter()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let count = 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function 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count++;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count;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 = makeCounter();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counter(); //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counter(); // 2  -&gt; 'count' persists!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3749040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BEAE0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4279392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closures with simple function scope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realizing loops with var leak shared state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explain WHY the counter example keeps state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Loop &amp; Async Programming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JavaScript Handles Async Work (Single-Threaded!)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260604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3063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synchronous code line by line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4612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23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566160" y="19659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30752" y="214884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5" name="Text 12"/>
          <p:cNvSpPr/>
          <p:nvPr/>
        </p:nvSpPr>
        <p:spPr>
          <a:xfrm>
            <a:off x="3730752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30752" y="260604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30752" y="3063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setTimeout, fetch, DOM events run outside the stack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64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23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583680" y="19659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48272" y="214884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21" name="Text 18"/>
          <p:cNvSpPr/>
          <p:nvPr/>
        </p:nvSpPr>
        <p:spPr>
          <a:xfrm>
            <a:off x="6748272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48272" y="260604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/ Microtask Queue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48272" y="3063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async callbacks wait here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8116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23C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601200" y="196596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65792" y="2148840"/>
            <a:ext cx="384048" cy="384048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27" name="Text 24"/>
          <p:cNvSpPr/>
          <p:nvPr/>
        </p:nvSpPr>
        <p:spPr>
          <a:xfrm>
            <a:off x="9765792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765792" y="260604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765792" y="3063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queued callbacks back once stack is empty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BEAE0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· async/await · Promise.all vs allSettled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22960" y="46177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object representing eventual success/failure of async work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async/await: syntactic sugar over Promises for readable async code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309360" y="46177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Promise.all(): fails fast if ANY promise rejects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Promise.allSettled(): waits for all, returns status of each — safer for independent API calls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ES6+ Essentials Interviewers Expect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Quick Example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Arrow Functions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Shorter syntax, lexical 'this'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const add = (a,b) =&gt; a+b;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Destructuring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Unpack values from arrays/objects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const {name} = user;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Spread / 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Expand or collect elements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[...arr], function(...args)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Template Literals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Embedded expressions in strings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`Hi ${name}`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Modules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import / export between files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export default App;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Set / Map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Unique values / key-value pairs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new Set([1,2,2]) → {1,2}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 — Always Asked, Always Live-Coded</a:t>
            </a:r>
            <a:endParaRPr lang="en-US" sz="2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92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Returns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map()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New array (same length)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Transform each element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filter()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New array (subset)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Keep elements matching a condition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reduce()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Single accumulated value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Totals, grouping, flattening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find()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First matching element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Locate one item by condition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some() / every()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Boolean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Check if any / all items pass a test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flat() / flatMap()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Flattened array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Flatten nested arrays; map + flatten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69480" y="1371600"/>
            <a:ext cx="4389120" cy="3657600"/>
          </a:xfrm>
          <a:prstGeom prst="roundRect">
            <a:avLst>
              <a:gd name="adj" fmla="val 1750"/>
            </a:avLst>
          </a:prstGeom>
          <a:solidFill>
            <a:srgbClr val="2B211A"/>
          </a:solidFill>
          <a:ln/>
        </p:spPr>
      </p:sp>
      <p:sp>
        <p:nvSpPr>
          <p:cNvPr id="8" name="Text 4"/>
          <p:cNvSpPr/>
          <p:nvPr/>
        </p:nvSpPr>
        <p:spPr>
          <a:xfrm>
            <a:off x="7470648" y="1499616"/>
            <a:ext cx="3986784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 2, 3, 4, 5];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nums.map(n =&gt; n * 2);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[2, 4, 6, 8, 10]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nums.filter(n =&gt; n % 2 === 0);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[2, 4]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nums.reduce((sum, n) =&gt; sum + n, 0);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269480" y="51663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tip: be ready to write reduce() live — it's the most tested method.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JavaScript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ser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REST APIs &amp; clean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ser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BACKEND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APIs — HTTP Methods &amp; Status Codes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Retrieve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Create new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Replace existing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PATCH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Partially update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Remove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200 OK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Success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201 Created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Resource created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400 Bad Request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Client-side input error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401 / 403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Unauthorized / Forbidden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404 Not Found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Resource missing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500 Server Error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Something broke on the backend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Backend Engineering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site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BACKEND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 &amp; Middleware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Client → Route → Controller → Service → Vendor API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A2E2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9659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60320" y="19659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23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16352" y="196596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C96A42"/>
          </a:solidFill>
          <a:ln/>
        </p:spPr>
      </p:sp>
      <p:sp>
        <p:nvSpPr>
          <p:cNvPr id="11" name="Text 8"/>
          <p:cNvSpPr/>
          <p:nvPr/>
        </p:nvSpPr>
        <p:spPr>
          <a:xfrm>
            <a:off x="2816352" y="19659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28032" y="19659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23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84064" y="196596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A2E27"/>
          </a:solidFill>
          <a:ln/>
        </p:spPr>
      </p:sp>
      <p:sp>
        <p:nvSpPr>
          <p:cNvPr id="14" name="Text 11"/>
          <p:cNvSpPr/>
          <p:nvPr/>
        </p:nvSpPr>
        <p:spPr>
          <a:xfrm>
            <a:off x="5084064" y="19659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95744" y="19659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23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351776" y="196596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C96A42"/>
          </a:solidFill>
          <a:ln/>
        </p:spPr>
      </p:sp>
      <p:sp>
        <p:nvSpPr>
          <p:cNvPr id="17" name="Text 14"/>
          <p:cNvSpPr/>
          <p:nvPr/>
        </p:nvSpPr>
        <p:spPr>
          <a:xfrm>
            <a:off x="7351776" y="19659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363456" y="19659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23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619488" y="196596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A2E27"/>
          </a:solidFill>
          <a:ln/>
        </p:spPr>
      </p:sp>
      <p:sp>
        <p:nvSpPr>
          <p:cNvPr id="20" name="Text 17"/>
          <p:cNvSpPr/>
          <p:nvPr/>
        </p:nvSpPr>
        <p:spPr>
          <a:xfrm>
            <a:off x="9619488" y="19659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API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ONE job — this separation is why interviewers ask about MVC and Service layers.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296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req.params vs req.query vs req.body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41148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req.params — values from the URL path  (/users/:id)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req.query — values after ?  (/users?age=25)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 — data sent in the request payload (POST/PUT)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72200" y="35204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4652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Middleware?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46520" y="4114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runs BETWEEN the request and the response — used for logging, authentication, validation, and error handling.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Backend Engineering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exch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BACKEND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Axios, Error Handling &amp; API Aggregation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2B211A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545336"/>
            <a:ext cx="499262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getUserAndOrders(id)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try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const [user, orders] = await Promise.all([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axios.get(`/api/users/${id}`),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axios.get(`/api/orders/${id}`),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]);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{ user: user.data, orders: orders.data };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 catch (err)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console.error('Aggregation failed:', err.message);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throw new Error('Could not load dashboard data');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Pattern Matters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2057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Promise.all() runs independent API calls in parallel — much faster than awaiting one at a time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prevents one failed call from crashing the whole server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handling (axios timeout option) avoids requests hanging forever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4553712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one of the two calls fails?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add a request timeout?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use allSettled() instead here?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Backend Engineering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re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interactive, component-driven UIs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re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REACT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Components, Props &amp; State</a:t>
            </a:r>
            <a:endParaRPr lang="en-US" sz="2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Props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Owned by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Parent component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The component itself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Mutability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Read-only (immutable)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Mutable via setState / hooks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Purpose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Pass data down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Track internal, changing data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Triggers re-render?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Yes, when parent re-renders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Yes, when state changes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1371600"/>
            <a:ext cx="534924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58368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&amp; useEffect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83680" y="1965960"/>
            <a:ext cx="4846320" cy="2286000"/>
          </a:xfrm>
          <a:prstGeom prst="roundRect">
            <a:avLst>
              <a:gd name="adj" fmla="val 2800"/>
            </a:avLst>
          </a:prstGeom>
          <a:solidFill>
            <a:srgbClr val="2B211A"/>
          </a:solidFill>
          <a:ln/>
        </p:spPr>
      </p:sp>
      <p:sp>
        <p:nvSpPr>
          <p:cNvPr id="10" name="Text 6"/>
          <p:cNvSpPr/>
          <p:nvPr/>
        </p:nvSpPr>
        <p:spPr>
          <a:xfrm>
            <a:off x="6784848" y="2093976"/>
            <a:ext cx="444398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const [count, setCount] = useState(0);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useEffect(() =&gt;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document.title = `Count: ${count}`;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}, [count]);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&lt;button onClick={() =&gt;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setCount(count + 1)}&gt;{count}&lt;/button&gt;;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58368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Tip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8368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mention the dependency array — forgetting it is the #1 useEffect bug interviewers probe for.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React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site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REACT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 &amp; Folder Structure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2B211A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545336"/>
            <a:ext cx="499262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UserList() {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const [users, setUsers] = useState([]);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const [loading, setLoading] = useState(true);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useEffect(() =&gt; {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axios.get('/api/users')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.then(res =&gt; setUsers(res.data))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.catch(err =&gt; console.error(err))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.finally(() =&gt; setLoading(false));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}, []);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if (loading) return &lt;p&gt;Loading...&lt;/p&gt;;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users.map(u =&gt; &lt;li key={u.id}&gt;{u.name}&lt;/li&gt;);</a:t>
            </a:r>
            <a:endParaRPr lang="en-US" sz="11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React Folder Structure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20574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— reusable UI pieces (Button, Card)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 — route-level screens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 — custom hooks (useAuth, useFetch)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— API call functions (userService.js)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 — helper functions, constants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486460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you put the axios call in a hook instead of directly in the component?”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React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fluently to the database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Keys, Normalization &amp; ACID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Normalization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— uniquely identifies a row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— links to another table's primary key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→ atomic values  |  2NF → no partial dependency  |  3NF → no transitive dependency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3434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 — all or nothing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valid state before &amp; after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— concurrent transactions don't interfere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— committed data survives a crash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Join 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Returns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INNER JOIN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Only matching rows in both 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LEFT JOIN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All left rows + matches from right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RIGHT JOIN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All right rows + matches from left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FULL JOIN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All rows from both, NULLs where no match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Interview Problem — Nth Highest Salary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Second Highest Salary from an Employee Table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2B211A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48256"/>
            <a:ext cx="499262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MAX(salary) AS second_highest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&lt; 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SELECT MAX(salary) FROM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BEAE0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498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query finds the overall MAX salary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query then finds the MAX among everyone below it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to Nth highest using LIMIT / DENSE_RANK()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2B211A"/>
          </a:solidFill>
          <a:ln/>
        </p:spPr>
      </p:sp>
      <p:sp>
        <p:nvSpPr>
          <p:cNvPr id="13" name="Text 10"/>
          <p:cNvSpPr/>
          <p:nvPr/>
        </p:nvSpPr>
        <p:spPr>
          <a:xfrm>
            <a:off x="6373368" y="2048256"/>
            <a:ext cx="508406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Generalized: Nth Highest Salary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salary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 - 1 = 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SELECT COUNT(DISTINCT salary)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FROM employee e2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WHERE e2.salary &gt; e1.salary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39776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BEAE0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Be Ready For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449884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duplicate records (GROUP BY + HAVING COUNT &gt; 1)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highest salary (JOIN + GROUP BY)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site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— Pattern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structures, not just syntax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site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DSA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Data Structure Should I Choose?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4663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Real-World Feature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Best Data Structure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Undo (Ctrl+Z)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Stack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Last action should be undone first (LIFO)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Browser History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Stack (2 stacks: back/forward)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Navigate backward in visit order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Cache (recently used)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HashMap + Doubly Linked List (LRU)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O(1) lookup + O(1) reordering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Autocomplete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Trie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Fast prefix matching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Notifications Feed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Queue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First posted, first shown (FIFO)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Task Scheduling by Priority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Priority Queue / Heap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Always process the most urgent item next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DSA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DSA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Problem-Solving Patterns, Not Memorized Code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8" name="Image 1" descr="/home/claude/affordmed/icons/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165049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36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16712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lookups — pair sums, frequency counts, duplicates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97680" y="141732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1600200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13" name="Image 2" descr="/home/claude/affordmed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65049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1636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80560" y="216712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Subarray/substring problems with a moving range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46720" y="141732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0" y="1600200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18" name="Image 3" descr="/home/claude/affordmed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2" y="165049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23960" y="1636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29600" y="216712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arrays — pair sums, removing duplicates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4290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23" name="Image 4" descr="/home/claude/affordmed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662172"/>
            <a:ext cx="356616" cy="3566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6484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31520" y="417880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range-sum queries without re-looping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297680" y="34290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480560" y="3611880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28" name="Image 5" descr="/home/claude/affordmed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852" y="3662172"/>
            <a:ext cx="356616" cy="35661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74920" y="36484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480560" y="417880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data — search space halves each step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046720" y="34290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29600" y="3611880"/>
            <a:ext cx="457200" cy="45720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33" name="Image 6" descr="/home/claude/affordmed/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9892" y="3662172"/>
            <a:ext cx="356616" cy="35661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23960" y="36484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229600" y="417880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that break into smaller identical sub-problems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DSA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co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that separate coders from engineers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o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SOFTWARE ENGINEERING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MVC, SOLID Basics &amp; Clean Code</a:t>
            </a:r>
            <a:endParaRPr lang="en-US" sz="27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Principle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MVC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Model-View-Controller — separates data, UI, and logic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SRP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A function/class should do exactly one thing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DRY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Don't Repeat Yourself — extract reusable logic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KISS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Keep It Simple — avoid unnecessary complexity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Separation of Concerns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Each layer (route/controller/service) has one job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Interviewers Care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46520" y="20116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principles show you can work on a real team codebase, not just solo scripts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 who mentions 'I kept the controller thin and moved logic to a service' stands out immediately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Folder Structure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46520" y="449884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 → controllers/ → services/ → models/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each layer testable and replaceable independently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Software Engineering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proj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built, not what you memorized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proj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PROJECT DISCUSSION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5-Block Explanation Framework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682496"/>
            <a:ext cx="402336" cy="402336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Purpose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18653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does, in one 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2642616"/>
            <a:ext cx="402336" cy="402336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642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2588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28254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specifically built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9808" y="3602736"/>
            <a:ext cx="402336" cy="402336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602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37856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database used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" y="4562856"/>
            <a:ext cx="402336" cy="402336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562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2588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/ Result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325880" y="47457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number, even an estimated one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530352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9808" y="5522976"/>
            <a:ext cx="402336" cy="402336"/>
          </a:xfrm>
          <a:prstGeom prst="ellipse">
            <a:avLst/>
          </a:prstGeom>
          <a:solidFill>
            <a:srgbClr val="C96A42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522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2588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Fixed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325880" y="57058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block — shows real ownership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309360" y="146304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FBEAE0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583680" y="1664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Answer (MERN Project)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583680" y="21031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8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built a MERN-based Library Management System. My role was the backend — REST APIs and MongoDB schema for books and members. It reduced manual issue/return tracking and handled 200+ concurrent test records reliably. A key challenge was preventing double-booking of the same book — I solved it using a MongoDB transaction with a unique availability check before confirming an issue.”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83680" y="4983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To Expect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58368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that transaction / query.”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you improve given more time?”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Project Discussion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PROJECT DISCUSSION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 Checklist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8" name="Image 1" descr="/home/claude/affordmed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165049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463040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architecture end-to-end — front to back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35915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520" y="2496312"/>
            <a:ext cx="457200" cy="45720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12" name="Image 2" descr="/home/claude/affordme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546604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359152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flow of data through every layer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25526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1520" y="3392424"/>
            <a:ext cx="457200" cy="45720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16" name="Image 3" descr="/home/claude/affordme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442716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255264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 logic of ONE core function, not the whole codebase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415137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1520" y="4288536"/>
            <a:ext cx="457200" cy="45720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20" name="Image 4" descr="/home/claude/affordmed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338828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4151376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one SQL/MongoDB query ready to write from memory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48640" y="504748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31520" y="5184648"/>
            <a:ext cx="457200" cy="457200"/>
          </a:xfrm>
          <a:prstGeom prst="ellipse">
            <a:avLst/>
          </a:prstGeom>
          <a:solidFill>
            <a:srgbClr val="5B7A4A"/>
          </a:solidFill>
          <a:ln/>
        </p:spPr>
      </p:sp>
      <p:pic>
        <p:nvPicPr>
          <p:cNvPr id="24" name="Image 5" descr="/home/claude/affordmed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5234940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7320" y="504748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one real bug you personally fixed, with the reasoning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Project Discussion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clip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practice, real feedback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lip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MOCK INTERVIEW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Interviewer Script</a:t>
            </a:r>
            <a:endParaRPr lang="en-US" sz="27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3035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Interviewer Asks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They're Really Testing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“Tell me about yourself.”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Communication, structure, confidence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“Walk me through your project.”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Ownership, technical depth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“Write a function to reverse a string.”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Basic coding fluency under pressure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“What's the difference between let and var?”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JavaScript fundamentals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“How would you find duplicate rows in SQL?”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Query-writing 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“Do you have any questions for us?”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Genuine interest in the 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Mock Interview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MOCK INTERVIEW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Rubric</a:t>
            </a:r>
            <a:endParaRPr lang="en-US" sz="2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649224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“Good” Looks Like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Communication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Clear, structured, confident delivery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Technical Depth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Explains the 'why', not just the 'what'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Project Ownership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Can defend every line they claim to have written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Problem Solving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Structured approach even when stuck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Attitude &amp; Fit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2A22"/>
                          </a:solidFill>
                        </a:rPr>
                        <a:t>Curious, coachable, respectful of the interviewer's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Mock Interview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4572000" cy="45720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62356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0308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08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Got This.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story. Own your project. Explain the 'why', not just the code.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Practice Round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REAL AFFORDMED 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Rounds Candidates Faced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Backend-Only Roles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Task-based online assignment: build with given endpoints/API keys, 90 minutes for a frontend-only or backend-only hire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— Technical interview: questions drawn straight from your Round 1 code, plus core JS/React or Node/SQL fundamentals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— Final round: HR, or sometimes a senior manager or the CEO directly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describe the process as intentionally tough — screening alone has been called “very difficult”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 a single-skill role, expect a few rounds that each dig into one layer at a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Applicants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Same task-based assignment, but 180 minutes: full front end + back end required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2-3 — Frontend: 1-hour conceptual interview on React/JS/TS/CSS, then a timed machine-coding round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4-5 — Backend: conceptual interview on caching/APIs/SQL, then a timed CRUD machine-coding round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candidates can face up to 5 separate rounds before an offer decision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fresher CTC: ~9 LPA (partial pay during probation, full pay after confirmation)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Understanding the Interview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MACHINE CODING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Coding — What They Actually Build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Tasks Past Candidates Reported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given UI design closely, e.g. a temperature converter — formula supplied, about 20-25 minutes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React app from a mock, e.g. an expense tracker — list + running total first, then a form with localStorage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 CRUD APIs for an entity like journal entries (title, tags, date, mood) with filter-by-date and filter-by-mood endpoints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tasks also expect fetching and caching data from a given external API using a supplied key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limits are real — 20 to 30 minutes per task, not a take-home assignment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Rules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Google, no Stack Overflow, no AI tools — some candidates report a fresh, extension-free editor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explain and defend every line you wrote, in the very next round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credit is real — working logic beats unfinished polish, so nail functionality before styling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fundamentals cold: array/object manipulation, basic CRUD, filtering by a field, localStorage read/write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on a timer at home so the time pressure isn't new on interview day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Understanding the Interview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BEYOND JS &amp; REST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TypeScript, Next.js &amp; Caching — Real Questions Asked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Extras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interface vs type, and why type safety matters on a larger codebase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Next.js: how routing works, and why you would (or would not) reach for it over plain React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 vs a plain &lt;a&gt; tag for in-app navigation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components, and cutting down unnecessary re-renders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vs the native fetch API — know the trade-offs, not just the syntax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Extras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strategies: in-memory vs Redis, and when each one makes sense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would store and reuse data pulled from an external API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route and endpoint design for a brand-new resource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 Bearer token correctly in request headers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storing tokens in a client-side .env file is a security risk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Understanding the Interview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Diagrams &amp; Table Relationships</a:t>
            </a:r>
            <a:endParaRPr lang="en-US" sz="2700" dirty="0"/>
          </a:p>
        </p:txBody>
      </p:sp>
      <p:sp>
        <p:nvSpPr>
          <p:cNvPr id="100" name="Legend"/>
          <p:cNvSpPr/>
          <p:nvPr/>
        </p:nvSpPr>
        <p:spPr>
          <a:xfrm>
            <a:off x="548640" y="1180000"/>
            <a:ext cx="1109472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(unique row ID)     FK = Foreign Key (points to another table’s PK)     1 — M = one-to-many relationship</a:t>
            </a:r>
            <a:endParaRPr lang="en-US" sz="1050" dirty="0"/>
          </a:p>
        </p:txBody>
      </p:sp>
      <p:sp>
        <p:nvSpPr>
          <p:cNvPr id="101" name="StudentsCard"/>
          <p:cNvSpPr/>
          <p:nvPr/>
        </p:nvSpPr>
        <p:spPr>
          <a:xfrm>
            <a:off x="548640" y="1450000"/>
            <a:ext cx="4800600" cy="4846320"/>
          </a:xfrm>
          <a:prstGeom prst="roundRect">
            <a:avLst>
              <a:gd name="adj" fmla="val 1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2" name="StudentsHeader"/>
          <p:cNvSpPr/>
          <p:nvPr/>
        </p:nvSpPr>
        <p:spPr>
          <a:xfrm>
            <a:off x="548640" y="1450000"/>
            <a:ext cx="4800600" cy="548640"/>
          </a:xfrm>
          <a:prstGeom prst="roundRect">
            <a:avLst>
              <a:gd name="adj" fmla="val 170"/>
            </a:avLst>
          </a:prstGeom>
          <a:solidFill>
            <a:srgbClr val="4A2E27"/>
          </a:solidFill>
          <a:ln/>
        </p:spPr>
      </p:sp>
      <p:sp>
        <p:nvSpPr>
          <p:cNvPr id="103" name="StudentsTitle"/>
          <p:cNvSpPr/>
          <p:nvPr/>
        </p:nvSpPr>
        <p:spPr>
          <a:xfrm>
            <a:off x="548640" y="14500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04" name="StudentsAttrs"/>
          <p:cNvSpPr/>
          <p:nvPr/>
        </p:nvSpPr>
        <p:spPr>
          <a:xfrm>
            <a:off x="822960" y="2178640"/>
            <a:ext cx="4300600" cy="39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(PK)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50" dirty="0"/>
          </a:p>
        </p:txBody>
      </p:sp>
      <p:sp>
        <p:nvSpPr>
          <p:cNvPr id="105" name="NotifCard"/>
          <p:cNvSpPr/>
          <p:nvPr/>
        </p:nvSpPr>
        <p:spPr>
          <a:xfrm>
            <a:off x="6549240" y="1450000"/>
            <a:ext cx="5094120" cy="4846320"/>
          </a:xfrm>
          <a:prstGeom prst="roundRect">
            <a:avLst>
              <a:gd name="adj" fmla="val 1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6" name="NotifHeader"/>
          <p:cNvSpPr/>
          <p:nvPr/>
        </p:nvSpPr>
        <p:spPr>
          <a:xfrm>
            <a:off x="6549240" y="1450000"/>
            <a:ext cx="5094120" cy="548640"/>
          </a:xfrm>
          <a:prstGeom prst="roundRect">
            <a:avLst>
              <a:gd name="adj" fmla="val 170"/>
            </a:avLst>
          </a:prstGeom>
          <a:solidFill>
            <a:srgbClr val="4A2E27"/>
          </a:solidFill>
          <a:ln/>
        </p:spPr>
      </p:sp>
      <p:sp>
        <p:nvSpPr>
          <p:cNvPr id="107" name="NotifTitle"/>
          <p:cNvSpPr/>
          <p:nvPr/>
        </p:nvSpPr>
        <p:spPr>
          <a:xfrm>
            <a:off x="6549240" y="1450000"/>
            <a:ext cx="5094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08" name="NotifAttrs"/>
          <p:cNvSpPr/>
          <p:nvPr/>
        </p:nvSpPr>
        <p:spPr>
          <a:xfrm>
            <a:off x="6823560" y="2178640"/>
            <a:ext cx="4594120" cy="39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notificationID (PK)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2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(FK → STUDENTS)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— ENUM: Event / Result / Placement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isRead — boolean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— timestamp</a:t>
            </a:r>
            <a:endParaRPr lang="en-US" sz="1250" dirty="0"/>
          </a:p>
        </p:txBody>
      </p:sp>
      <p:sp>
        <p:nvSpPr>
          <p:cNvPr id="109" name="ConnectorLine"/>
          <p:cNvSpPr/>
          <p:nvPr/>
        </p:nvSpPr>
        <p:spPr>
          <a:xfrm>
            <a:off x="5349240" y="3866810"/>
            <a:ext cx="1200000" cy="12700"/>
          </a:xfrm>
          <a:prstGeom prst="rect">
            <a:avLst/>
          </a:prstGeom>
          <a:solidFill>
            <a:srgbClr val="4A2E27"/>
          </a:solidFill>
          <a:ln/>
        </p:spPr>
      </p:sp>
      <p:sp>
        <p:nvSpPr>
          <p:cNvPr id="110" name="CardOne"/>
          <p:cNvSpPr/>
          <p:nvPr/>
        </p:nvSpPr>
        <p:spPr>
          <a:xfrm>
            <a:off x="5309240" y="3513160"/>
            <a:ext cx="2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1" name="CardMany"/>
          <p:cNvSpPr/>
          <p:nvPr/>
        </p:nvSpPr>
        <p:spPr>
          <a:xfrm>
            <a:off x="6329240" y="3513160"/>
            <a:ext cx="2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700" dirty="0"/>
          </a:p>
        </p:txBody>
      </p:sp>
      <p:sp>
        <p:nvSpPr>
          <p:cNvPr id="112" name="ConnectorCaption"/>
          <p:cNvSpPr/>
          <p:nvPr/>
        </p:nvSpPr>
        <p:spPr>
          <a:xfrm>
            <a:off x="5199240" y="3963160"/>
            <a:ext cx="15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has many notifications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Constraints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Integrity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 — every row must be uniquely identifiable, so no primary key column can be NULL or duplicated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— a foreign key must match an existing primary key in the parent table, or be NULL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Integrity — every value in a column must respect its defined type, format, and allowed range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Integrity — business rules the schema itself must enforce, e.g. an order date cannot be in the future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often ask you to spot which type of integrity a given bug violates — practice naming it, not just fixing 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Enforced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and UNIQUE constraints enforce entity integrity at the column or table level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with ON DELETE/UPDATE CASCADE, SET NULL, or RESTRICT enforces referential integrity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CHECK, and correct data types enforce domain integrity at write time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or application-layer validation enforce user-defined business rules SQL alone cannot express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Affordmed notification schema: studentID as a FK to students, and notificationType as a CHECK/ENUM are both integrity constraints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SOFTWARE ENGINEERING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in JavaScript — Classes, Prototypes &amp; Traps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JS Implements OOP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class syntax is sugar over prototypes — every object still looks up methods on its prototype chain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extends and super() link a child prototype to its parent's prototype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#privateField (true private) vs _convention (still public, just a naming hint)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a subclass overriding a parent method — the same call behaves differently per object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Abstraction: hiding implementation behind a simple method name, or an abstract-style base class that throws if not overridden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Interview Traps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has no true method overloading — a second same-named method simply replaces the first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don't get their own ‘this’ — they inherit it from the enclosing scope, which is why they're used inside class methods for callbacks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 live on the class itself, not on instances — useful for factory-style helpers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shares one copy of a prototype method, but each gets its own copy of instance fields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explain: “Is JavaScript truly object-oriented?” — it is prototype-based, not class-based under the hood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Software Engineering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 — Correlated vs Non-Correlated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Non-Correlated Runs Once — Correlated Runs Per Row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2B211A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48256"/>
            <a:ext cx="499262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salary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SELECT AVG(salary) FROM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BEAE0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Non-Correlated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498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query (AVG salary) is evaluated exactly once, for the whole table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references a column from the outer row — so it runs standalone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 — this is the same pattern behind Nth Highest Salary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2B211A"/>
          </a:solidFill>
          <a:ln/>
        </p:spPr>
      </p:sp>
      <p:sp>
        <p:nvSpPr>
          <p:cNvPr id="13" name="Text 10"/>
          <p:cNvSpPr/>
          <p:nvPr/>
        </p:nvSpPr>
        <p:spPr>
          <a:xfrm>
            <a:off x="6373368" y="2048256"/>
            <a:ext cx="508406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Correlated: re-runs per outer row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e1.name, e1.salary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e1.salary &gt; 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SELECT AVG(e2.salary)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FROM employee e2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WHERE e2.dept_id = e1.dept_id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39776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BEAE0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Correlated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449884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references e1.dept_id from the outer row, so it can't run standalone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Re-executes once per outer row — often slower; EXISTS or a JOIN can outperform it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SQL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site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SOFTWARE ENGINEERING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— The Four Pillars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4663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Pillar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JS Example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27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Encapsulation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Bundling data with the methods that operate on it, and hiding internal state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#balance private field, exposed only through deposit()/withdraw() methods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Abstraction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Exposing only what a caller needs, hiding how it's implemented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fetch(url) hides the socket/DNS/TCP work behind one simple call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Inheritance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A class reuses and extends behavior from a parent class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class Admin extends User { } inherits User's fields and methods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Polymorphism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The same method call behaves differently depending on the object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2A22"/>
                          </a:solidFill>
                        </a:rPr>
                        <a:t>user.getAccess() returns different results for Admin vs Guest instances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Software Engineering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806440"/>
            <a:ext cx="2743200" cy="2743200"/>
          </a:xfrm>
          <a:prstGeom prst="ellipse">
            <a:avLst/>
          </a:prstGeom>
          <a:solidFill>
            <a:srgbClr val="5E3B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005840" cy="1005840"/>
          </a:xfrm>
          <a:prstGeom prst="ellipse">
            <a:avLst/>
          </a:prstGeom>
          <a:solidFill>
            <a:srgbClr val="C96A42"/>
          </a:solidFill>
          <a:ln/>
        </p:spPr>
      </p:sp>
      <p:pic>
        <p:nvPicPr>
          <p:cNvPr id="5" name="Image 0" descr="/home/claude/affordmed/icons/comm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259482"/>
            <a:ext cx="784555" cy="784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Round 1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Assessment, Decoded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HR would read it — what they'll grill you on next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LOGGING &amp; API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&amp; API Design — Expect These Qs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Logging Middleware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specific log(stack, level, package, message) fields — what would you add?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log server is unreachable, does your app hang, retry, or silently drop the log?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fire-and-forget logging usually safer than blocking on every call?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one Log() call you added purely for future debugging, not for an error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log level did you use most, and why — most candidates over-use just 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REST API &amp; Real-Time Design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one endpoint end-to-end — request, headers, response, status codes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polling vs WebSockets vs Server-Sent Events for real-time notifications?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two devices both mark the same notification as read at once?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first if this API suddenly got 10x traffic overnight?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URL naming convention, and not another?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Your Round 1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DATABASE &amp; SCALE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Query Performance — Expect These Qs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Query, Explained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SELECT * with no index on (studentID, isRead) slow at 5M rows?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composite index would you add, and why does column order in it matter?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“index every column” bad advice — what does it cost on writes and storage?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prove your fix worked — what does EXPLAIN / EXPLAIN ANALYZE show?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7-day placement-notification query live, from memory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Beyond One Query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asked about DB overwhelm on every page load — what did you cache, and where?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invalidate that cache the instant a new notification arrives?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point would you shard or partition the notifications table, and by what key?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 for this schema — defend your choice either way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actual computation cost of your original slow query, in plain terms?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Your Round 1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RELIABILITY &amp; ALGORITHMS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Algorithms — Expect These Qs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Notify &amp; Failure Handling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of 50,000 emails failed mid-run — what's your recovery plan?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shouldn't the DB write and the email send happen in one synchronous step?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redesign idempotent if the same job runs twice?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a message queue or retry-with-backoff fit into your fix?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which 200 students still need the notification?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Algorithm Choice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Inbox: why a heap over sorting the full list — what's the complexity gain?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track: why is this a Knapsack problem, and why does greedy-by-impact fail?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time and space complexity of the solution you actually submitted?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notifications keep arriving — how do you keep your Top-10 correct without recomputing from scratch?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have solved it with a different structure — and why didn't you?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Your Round 1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365760"/>
            <a:ext cx="530352" cy="530352"/>
          </a:xfrm>
          <a:prstGeom prst="ellipse">
            <a:avLst/>
          </a:prstGeom>
          <a:solidFill>
            <a:srgbClr val="4A2E27"/>
          </a:solidFill>
          <a:ln/>
        </p:spPr>
      </p:sp>
      <p:pic>
        <p:nvPicPr>
          <p:cNvPr id="3" name="Image 0" descr="/home/claude/affordmed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419" y="424099"/>
            <a:ext cx="413675" cy="41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DEFEND YOUR SUBMISSION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03504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Your Own Submission — General Tips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your GitHub commit history — why these milestones, in this order?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requirement did you not fully complete, and why — honesty beats bluffing here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thing you'd redo with more time, and what would you change?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design decision using fundamentals, not “it just worked”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language/framework for the backend, over the alternatives?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Prepare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11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your own notification_system_design.md the night before — expect to defend every stage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explaining your hardest stage out loud in under 90 seconds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own code cold — if you copied a pattern, understand it well enough to modify it live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interview as Round 1's oral defense, not a brand-new test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honest limitation of your solution before they find 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Your Round 1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Affordmed Technical Interview Preparation</dc:title>
  <dc:subject>PptxGenJS Presentation</dc:subject>
  <dc:creator>Affordmed Interview Prep</dc:creator>
  <cp:lastModifiedBy>Affordmed Interview Prep</cp:lastModifiedBy>
  <cp:revision>1</cp:revision>
  <dcterms:created xsi:type="dcterms:W3CDTF">2026-07-04T04:15:10Z</dcterms:created>
  <dcterms:modified xsi:type="dcterms:W3CDTF">2026-07-04T04:15:10Z</dcterms:modified>
</cp:coreProperties>
</file>